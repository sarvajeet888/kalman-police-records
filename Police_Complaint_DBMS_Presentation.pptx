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as an academic prototype under Kalman Systems. The goal is organized complaint and evidence records, not an official FIR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operational problem without claiming data from an actual police station. Each objective maps to a working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browser submits forms to Express. Express checks session, CSRF token and write permission. SQLite persists relational data and attachment bytes. Node.js 24 or newer is required; no separate database server or Python installation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Officer has one-to-many relationships with assigned complaints and recorded events. Custody references officers twice: custodian and recorder. Explain 3NF: each entity/event is separated and non-key fields depend on its key. Current status is a deliberate transactional summary of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queries.sql to demonstrate joins and aggregations. Custody triggers protect normal application/database writes, not a database administrator. SHA-256 compares file bytes to the stored digest; it is not proof of origin.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npm install, then npm start in the folder containing package.json. Requires Node.js 24 or newer. Open http://localhost:3000, or the alternate port printed in the terminal. Initial account: admin / Kalman@123. Demonstrate complaint creation, Evidence tab, file download and custody transfer, then history and print report. The interface and SQLite schema are retained; Express replaces Flask. HTTP tests and a complete Chromium workflow passed on Linux. Native Windows testing was not available. This is a local academic prototype, not an officially integrated police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17189"/>
                </a:solidFill>
                <a:latin typeface="Aptos"/>
              </a:defRPr>
            </a:pPr>
            <a:r>
              <a:t>KALMAN SYSTEMS  /  DBMS PROJECT-BASED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D2F46"/>
                </a:solidFill>
                <a:latin typeface="Aptos"/>
              </a:defRPr>
            </a:pPr>
            <a:r>
              <a:t>Police Complaint and</a:t>
            </a:r>
          </a:p>
          <a:p>
            <a:pPr>
              <a:spcAft>
                <a:spcPts val="1200"/>
              </a:spcAft>
              <a:defRPr sz="3000" b="1">
                <a:solidFill>
                  <a:srgbClr val="1D2F46"/>
                </a:solidFill>
                <a:latin typeface="Aptos"/>
              </a:defRPr>
            </a:pPr>
            <a:r>
              <a:t>Evidence Tracking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17189"/>
                </a:solidFill>
                <a:latin typeface="Aptos"/>
              </a:defRPr>
            </a:pPr>
            <a:r>
              <a:t>A relational database application by Kalman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17189"/>
                </a:solidFill>
                <a:latin typeface="Aptos"/>
              </a:defRPr>
            </a:pPr>
            <a:r>
              <a:t>Sarvajeet Bajikar &amp; Adhiraj Kalkundrikar  •  DBMS Group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1718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6400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D2F46"/>
                </a:solidFill>
                <a:latin typeface="Aptos"/>
              </a:defRPr>
            </a:pPr>
            <a:r>
              <a:t>One complaint record.</a:t>
            </a:r>
          </a:p>
          <a:p>
            <a:pPr>
              <a:spcAft>
                <a:spcPts val="1200"/>
              </a:spcAft>
              <a:defRPr sz="3000" b="1">
                <a:solidFill>
                  <a:srgbClr val="1D2F46"/>
                </a:solidFill>
                <a:latin typeface="Aptos"/>
              </a:defRPr>
            </a:pPr>
            <a:r>
              <a:t>Linked evidence.</a:t>
            </a:r>
          </a:p>
          <a:p>
            <a:pPr>
              <a:spcAft>
                <a:spcPts val="1200"/>
              </a:spcAft>
              <a:defRPr sz="3000" b="1">
                <a:solidFill>
                  <a:srgbClr val="1D2F46"/>
                </a:solidFill>
                <a:latin typeface="Aptos"/>
              </a:defRPr>
            </a:pPr>
            <a:r>
              <a:t>A traceable custody history.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2697480"/>
            <a:ext cx="3931920" cy="2560320"/>
          </a:xfrm>
          <a:prstGeom prst="rect">
            <a:avLst/>
          </a:prstGeom>
          <a:solidFill>
            <a:srgbClr val="1D2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269748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WORKING LOCAL MODEL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Node.js + Express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SQLite relational database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HTML / CSS interface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17189"/>
                </a:solidFill>
                <a:latin typeface="Aptos"/>
              </a:defRPr>
            </a:pPr>
            <a:r>
              <a:t>KALMAN SYSTEMS  /  DBMS PROJECT-BASED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D2F46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17189"/>
                </a:solidFill>
                <a:latin typeface="Aptos"/>
              </a:defRPr>
            </a:pPr>
            <a:r>
              <a:t>Replace disconnected complaint records and evidence logs with linked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17189"/>
                </a:solidFill>
                <a:latin typeface="Aptos"/>
              </a:defRPr>
            </a:pPr>
            <a:r>
              <a:t>Sarvajeet Bajikar &amp; Adhiraj Kalkundrikar  •  DBMS Group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1718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D2F46"/>
                </a:solidFill>
                <a:latin typeface="Aptos"/>
              </a:defRPr>
            </a:pPr>
            <a:r>
              <a:t>THE PROBLEM</a:t>
            </a:r>
          </a:p>
          <a:p>
            <a:pPr>
              <a:spcAft>
                <a:spcPts val="1200"/>
              </a:spcAft>
              <a:defRPr sz="2100" b="0">
                <a:solidFill>
                  <a:srgbClr val="1D2F46"/>
                </a:solidFill>
                <a:latin typeface="Aptos"/>
              </a:defRPr>
            </a:pPr>
            <a:r>
              <a:t>• Difficult to locate complaint updates</a:t>
            </a:r>
          </a:p>
          <a:p>
            <a:pPr>
              <a:spcAft>
                <a:spcPts val="1200"/>
              </a:spcAft>
              <a:defRPr sz="2100" b="0">
                <a:solidFill>
                  <a:srgbClr val="1D2F46"/>
                </a:solidFill>
                <a:latin typeface="Aptos"/>
              </a:defRPr>
            </a:pPr>
            <a:r>
              <a:t>• Unclear evidence location and holder</a:t>
            </a:r>
          </a:p>
          <a:p>
            <a:pPr>
              <a:spcAft>
                <a:spcPts val="1200"/>
              </a:spcAft>
              <a:defRPr sz="2100" b="0">
                <a:solidFill>
                  <a:srgbClr val="1D2F46"/>
                </a:solidFill>
                <a:latin typeface="Aptos"/>
              </a:defRPr>
            </a:pPr>
            <a:r>
              <a:t>• Repeated information across registers</a:t>
            </a:r>
          </a:p>
          <a:p>
            <a:pPr>
              <a:spcAft>
                <a:spcPts val="1200"/>
              </a:spcAft>
              <a:defRPr sz="2100" b="0">
                <a:solidFill>
                  <a:srgbClr val="1D2F46"/>
                </a:solidFill>
                <a:latin typeface="Aptos"/>
              </a:defRPr>
            </a:pPr>
            <a:r>
              <a:t>• Slow preparation of case summaries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46888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D2F46"/>
                </a:solidFill>
                <a:latin typeface="Aptos"/>
              </a:defRPr>
            </a:pPr>
            <a:r>
              <a:t>PROJECT OBJECTIVES</a:t>
            </a:r>
          </a:p>
          <a:p>
            <a:pPr>
              <a:spcAft>
                <a:spcPts val="1200"/>
              </a:spcAft>
              <a:defRPr sz="2100" b="0">
                <a:solidFill>
                  <a:srgbClr val="1D2F46"/>
                </a:solidFill>
                <a:latin typeface="Aptos"/>
              </a:defRPr>
            </a:pPr>
            <a:r>
              <a:t>• Register and assign complaints</a:t>
            </a:r>
          </a:p>
          <a:p>
            <a:pPr>
              <a:spcAft>
                <a:spcPts val="1200"/>
              </a:spcAft>
              <a:defRPr sz="2100" b="0">
                <a:solidFill>
                  <a:srgbClr val="1D2F46"/>
                </a:solidFill>
                <a:latin typeface="Aptos"/>
              </a:defRPr>
            </a:pPr>
            <a:r>
              <a:t>• Link evidence to its complaint</a:t>
            </a:r>
          </a:p>
          <a:p>
            <a:pPr>
              <a:spcAft>
                <a:spcPts val="1200"/>
              </a:spcAft>
              <a:defRPr sz="2100" b="0">
                <a:solidFill>
                  <a:srgbClr val="1D2F46"/>
                </a:solidFill>
                <a:latin typeface="Aptos"/>
              </a:defRPr>
            </a:pPr>
            <a:r>
              <a:t>• Record every custody transfer</a:t>
            </a:r>
          </a:p>
          <a:p>
            <a:pPr>
              <a:spcAft>
                <a:spcPts val="1200"/>
              </a:spcAft>
              <a:defRPr sz="2100" b="0">
                <a:solidFill>
                  <a:srgbClr val="1D2F46"/>
                </a:solidFill>
                <a:latin typeface="Aptos"/>
              </a:defRPr>
            </a:pPr>
            <a:r>
              <a:t>• Search, monitor and export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17189"/>
                </a:solidFill>
                <a:latin typeface="Aptos"/>
              </a:defRPr>
            </a:pPr>
            <a:r>
              <a:t>KALMAN SYSTEMS  /  DBMS PROJECT-BASED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D2F46"/>
                </a:solidFill>
                <a:latin typeface="Aptos"/>
              </a:defRPr>
            </a:pPr>
            <a:r>
              <a:t>Methodology &amp;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17189"/>
                </a:solidFill>
                <a:latin typeface="Aptos"/>
              </a:defRPr>
            </a:pPr>
            <a:r>
              <a:t>Server-rendered pages keep the local model simple and easy to demonstrate.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17189"/>
                </a:solidFill>
                <a:latin typeface="Aptos"/>
              </a:defRPr>
            </a:pPr>
            <a:r>
              <a:t>Sarvajeet Bajikar &amp; Adhiraj Kalkundrikar  •  DBMS Group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1718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3108960" cy="1554480"/>
          </a:xfrm>
          <a:prstGeom prst="rect">
            <a:avLst/>
          </a:prstGeom>
          <a:solidFill>
            <a:srgbClr val="1D2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BROWSER</a:t>
            </a:r>
          </a:p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Forms, register, history</a:t>
            </a:r>
          </a:p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HTML + CSS / Nunjucks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2606040"/>
            <a:ext cx="3108960" cy="1554480"/>
          </a:xfrm>
          <a:prstGeom prst="rect">
            <a:avLst/>
          </a:prstGeom>
          <a:solidFill>
            <a:srgbClr val="1D2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6060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EXPRESS APPLICATION</a:t>
            </a:r>
          </a:p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Login and permissions</a:t>
            </a:r>
          </a:p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Validation + transactions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2606040"/>
            <a:ext cx="3108960" cy="1554480"/>
          </a:xfrm>
          <a:prstGeom prst="rect">
            <a:avLst/>
          </a:prstGeom>
          <a:solidFill>
            <a:srgbClr val="1D2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6060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SQLITE DATABASE</a:t>
            </a:r>
          </a:p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Six relational tables</a:t>
            </a:r>
          </a:p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Evidence file BLOBs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063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455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063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455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D2F46"/>
                </a:solidFill>
                <a:latin typeface="Aptos"/>
              </a:defRPr>
            </a:pPr>
            <a:r>
              <a:t>Workflow: Register complaint → assign officer → add evidence → record custody → update status.</a:t>
            </a:r>
          </a:p>
          <a:p>
            <a:pPr>
              <a:spcAft>
                <a:spcPts val="1200"/>
              </a:spcAft>
              <a:defRPr sz="2000" b="0">
                <a:solidFill>
                  <a:srgbClr val="1D2F46"/>
                </a:solidFill>
                <a:latin typeface="Aptos"/>
              </a:defRPr>
            </a:pPr>
            <a:r>
              <a:t>Each write uses validated input, parameterized SQL and database transactions.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17189"/>
                </a:solidFill>
                <a:latin typeface="Aptos"/>
              </a:defRPr>
            </a:pPr>
            <a:r>
              <a:t>KALMAN SYSTEMS  /  DBMS PROJECT-BASED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D2F46"/>
                </a:solidFill>
                <a:latin typeface="Aptos"/>
              </a:defRPr>
            </a:pPr>
            <a:r>
              <a:t>Database design &amp;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17189"/>
                </a:solidFill>
                <a:latin typeface="Aptos"/>
              </a:defRPr>
            </a:pPr>
            <a:r>
              <a:t>Primary keys identify records; foreign keys preserve the links between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17189"/>
                </a:solidFill>
                <a:latin typeface="Aptos"/>
              </a:defRPr>
            </a:pPr>
            <a:r>
              <a:t>Sarvajeet Bajikar &amp; Adhiraj Kalkundrikar  •  DBMS Group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1718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3474720" cy="1371600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D2F46"/>
                </a:solidFill>
                <a:latin typeface="Aptos"/>
              </a:defRPr>
            </a:pPr>
            <a:r>
              <a:t>COMPLAINANTS</a:t>
            </a:r>
          </a:p>
          <a:p>
            <a:pPr>
              <a:spcAft>
                <a:spcPts val="1200"/>
              </a:spcAft>
              <a:defRPr sz="1700" b="0">
                <a:solidFill>
                  <a:srgbClr val="1D2F46"/>
                </a:solidFill>
                <a:latin typeface="Aptos"/>
              </a:defRPr>
            </a:pPr>
            <a:r>
              <a:t>id PK · name · phone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06240"/>
            <a:ext cx="3474720" cy="1371600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D2F46"/>
                </a:solidFill>
                <a:latin typeface="Aptos"/>
              </a:defRPr>
            </a:pPr>
            <a:r>
              <a:t>OFFICERS</a:t>
            </a:r>
          </a:p>
          <a:p>
            <a:pPr>
              <a:spcAft>
                <a:spcPts val="1200"/>
              </a:spcAft>
              <a:defRPr sz="1700" b="0">
                <a:solidFill>
                  <a:srgbClr val="1D2F46"/>
                </a:solidFill>
                <a:latin typeface="Aptos"/>
              </a:defRPr>
            </a:pPr>
            <a:r>
              <a:t>id PK · username UNIQUE</a:t>
            </a:r>
          </a:p>
          <a:p>
            <a:pPr>
              <a:spcAft>
                <a:spcPts val="1200"/>
              </a:spcAft>
              <a:defRPr sz="1700" b="0">
                <a:solidFill>
                  <a:srgbClr val="1D2F46"/>
                </a:solidFill>
                <a:latin typeface="Aptos"/>
              </a:defRPr>
            </a:pPr>
            <a:r>
              <a:t>password hash · 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468880"/>
            <a:ext cx="3474720" cy="1371600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4688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D2F46"/>
                </a:solidFill>
                <a:latin typeface="Aptos"/>
              </a:defRPr>
            </a:pPr>
            <a:r>
              <a:t>COMPLAINTS</a:t>
            </a:r>
          </a:p>
          <a:p>
            <a:pPr>
              <a:spcAft>
                <a:spcPts val="1200"/>
              </a:spcAft>
              <a:defRPr sz="1700" b="0">
                <a:solidFill>
                  <a:srgbClr val="1D2F46"/>
                </a:solidFill>
                <a:latin typeface="Aptos"/>
              </a:defRPr>
            </a:pPr>
            <a:r>
              <a:t>id PK · complainant_id FK</a:t>
            </a:r>
          </a:p>
          <a:p>
            <a:pPr>
              <a:spcAft>
                <a:spcPts val="1200"/>
              </a:spcAft>
              <a:defRPr sz="1700" b="0">
                <a:solidFill>
                  <a:srgbClr val="1D2F46"/>
                </a:solidFill>
                <a:latin typeface="Aptos"/>
              </a:defRPr>
            </a:pPr>
            <a:r>
              <a:t>officer_id FK · 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4206240"/>
            <a:ext cx="3474720" cy="1371600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42062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D2F46"/>
                </a:solidFill>
                <a:latin typeface="Aptos"/>
              </a:defRPr>
            </a:pPr>
            <a:r>
              <a:t>STATUS_HISTORY</a:t>
            </a:r>
          </a:p>
          <a:p>
            <a:pPr>
              <a:spcAft>
                <a:spcPts val="1200"/>
              </a:spcAft>
              <a:defRPr sz="1700" b="0">
                <a:solidFill>
                  <a:srgbClr val="1D2F46"/>
                </a:solidFill>
                <a:latin typeface="Aptos"/>
              </a:defRPr>
            </a:pPr>
            <a:r>
              <a:t>id PK · complaint_id FK</a:t>
            </a:r>
          </a:p>
          <a:p>
            <a:pPr>
              <a:spcAft>
                <a:spcPts val="1200"/>
              </a:spcAft>
              <a:defRPr sz="1700" b="0">
                <a:solidFill>
                  <a:srgbClr val="1D2F46"/>
                </a:solidFill>
                <a:latin typeface="Aptos"/>
              </a:defRPr>
            </a:pPr>
            <a:r>
              <a:t>officer_id FK · note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468880"/>
            <a:ext cx="3474720" cy="1371600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4688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D2F46"/>
                </a:solidFill>
                <a:latin typeface="Aptos"/>
              </a:defRPr>
            </a:pPr>
            <a:r>
              <a:t>EVIDENCE</a:t>
            </a:r>
          </a:p>
          <a:p>
            <a:pPr>
              <a:spcAft>
                <a:spcPts val="1200"/>
              </a:spcAft>
              <a:defRPr sz="1700" b="0">
                <a:solidFill>
                  <a:srgbClr val="1D2F46"/>
                </a:solidFill>
                <a:latin typeface="Aptos"/>
              </a:defRPr>
            </a:pPr>
            <a:r>
              <a:t>id PK · complaint_id FK</a:t>
            </a:r>
          </a:p>
          <a:p>
            <a:pPr>
              <a:spcAft>
                <a:spcPts val="1200"/>
              </a:spcAft>
              <a:defRPr sz="1700" b="0">
                <a:solidFill>
                  <a:srgbClr val="1D2F46"/>
                </a:solidFill>
                <a:latin typeface="Aptos"/>
              </a:defRPr>
            </a:pPr>
            <a:r>
              <a:t>file BLOB · SHA-256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4206240"/>
            <a:ext cx="3474720" cy="1371600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42062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D2F46"/>
                </a:solidFill>
                <a:latin typeface="Aptos"/>
              </a:defRPr>
            </a:pPr>
            <a:r>
              <a:t>CUSTODY</a:t>
            </a:r>
          </a:p>
          <a:p>
            <a:pPr>
              <a:spcAft>
                <a:spcPts val="1200"/>
              </a:spcAft>
              <a:defRPr sz="1700" b="0">
                <a:solidFill>
                  <a:srgbClr val="1D2F46"/>
                </a:solidFill>
                <a:latin typeface="Aptos"/>
              </a:defRPr>
            </a:pPr>
            <a:r>
              <a:t>id PK · evidence_id FK</a:t>
            </a:r>
          </a:p>
          <a:p>
            <a:pPr>
              <a:spcAft>
                <a:spcPts val="1200"/>
              </a:spcAft>
              <a:defRPr sz="1700" b="0">
                <a:solidFill>
                  <a:srgbClr val="1D2F46"/>
                </a:solidFill>
                <a:latin typeface="Aptos"/>
              </a:defRPr>
            </a:pPr>
            <a:r>
              <a:t>holder FK · recorder FK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24557C"/>
                </a:solidFill>
                <a:latin typeface="Aptos"/>
              </a:defRPr>
            </a:pPr>
            <a:r>
              <a:t>1:N  Complainant → Complaints  |  Complaint → Evidence / Status history  |  Evidence → Custody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17189"/>
                </a:solidFill>
                <a:latin typeface="Aptos"/>
              </a:defRPr>
            </a:pPr>
            <a:r>
              <a:t>KALMAN SYSTEMS  /  DBMS PROJECT-BASED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D2F46"/>
                </a:solidFill>
                <a:latin typeface="Aptos"/>
              </a:defRPr>
            </a:pPr>
            <a:r>
              <a:t>Working model &amp; DBMS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17189"/>
                </a:solidFill>
                <a:latin typeface="Aptos"/>
              </a:defRPr>
            </a:pPr>
            <a:r>
              <a:t>Implemented features connect the user workflow to database fundamentals.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17189"/>
                </a:solidFill>
                <a:latin typeface="Aptos"/>
              </a:defRPr>
            </a:pPr>
            <a:r>
              <a:t>Sarvajeet Bajikar &amp; Adhiraj Kalkundrikar  •  DBMS Group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17189"/>
                </a:solidFill>
                <a:latin typeface="Aptos"/>
              </a:defRPr>
            </a:pPr>
            <a: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423160"/>
          <a:ext cx="1088136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577840"/>
              </a:tblGrid>
              <a:tr h="51598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Application feature</a:t>
                      </a:r>
                    </a:p>
                  </a:txBody>
                  <a:tcPr>
                    <a:solidFill>
                      <a:srgbClr val="1D2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DBMS concept</a:t>
                      </a:r>
                    </a:p>
                  </a:txBody>
                  <a:tcPr>
                    <a:solidFill>
                      <a:srgbClr val="1D2F46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D2F46"/>
                          </a:solidFill>
                          <a:latin typeface="Aptos"/>
                        </a:defRPr>
                      </a:pPr>
                      <a:r>
                        <a:t>Complaint registration + initial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D2F46"/>
                          </a:solidFill>
                          <a:latin typeface="Aptos"/>
                        </a:defRPr>
                      </a:pPr>
                      <a:r>
                        <a:t>Atomic transaction; PK and FK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D2F46"/>
                          </a:solidFill>
                          <a:latin typeface="Aptos"/>
                        </a:defRPr>
                      </a:pPr>
                      <a:r>
                        <a:t>Evidence record + initial custody</a:t>
                      </a:r>
                    </a:p>
                  </a:txBody>
                  <a:tcPr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D2F46"/>
                          </a:solidFill>
                          <a:latin typeface="Aptos"/>
                        </a:defRPr>
                      </a:pPr>
                      <a:r>
                        <a:t>Transaction with attachment BLOB and SHA-256</a:t>
                      </a:r>
                    </a:p>
                  </a:txBody>
                  <a:tcPr>
                    <a:solidFill>
                      <a:srgbClr val="EAF0F5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D2F46"/>
                          </a:solidFill>
                          <a:latin typeface="Aptos"/>
                        </a:defRPr>
                      </a:pPr>
                      <a:r>
                        <a:t>Complaint register and CSV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D2F46"/>
                          </a:solidFill>
                          <a:latin typeface="Aptos"/>
                        </a:defRPr>
                      </a:pPr>
                      <a:r>
                        <a:t>JOIN, LEFT JOIN, COUNT and GROUP 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D2F46"/>
                          </a:solidFill>
                          <a:latin typeface="Aptos"/>
                        </a:defRPr>
                      </a:pPr>
                      <a:r>
                        <a:t>Latest evidence holder</a:t>
                      </a:r>
                    </a:p>
                  </a:txBody>
                  <a:tcPr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D2F46"/>
                          </a:solidFill>
                          <a:latin typeface="Aptos"/>
                        </a:defRPr>
                      </a:pPr>
                      <a:r>
                        <a:t>Newest custody event per evidence item</a:t>
                      </a:r>
                    </a:p>
                  </a:txBody>
                  <a:tcPr>
                    <a:solidFill>
                      <a:srgbClr val="EAF0F5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D2F46"/>
                          </a:solidFill>
                          <a:latin typeface="Aptos"/>
                        </a:defRPr>
                      </a:pPr>
                      <a:r>
                        <a:t>Custody history protection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D2F46"/>
                          </a:solidFill>
                          <a:latin typeface="Aptos"/>
                        </a:defRPr>
                      </a:pPr>
                      <a:r>
                        <a:t>Append-only records; UPDATE / DELETE triggers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D2F46"/>
                          </a:solidFill>
                          <a:latin typeface="Aptos"/>
                        </a:defRPr>
                      </a:pPr>
                      <a:r>
                        <a:t>Search and validation</a:t>
                      </a:r>
                    </a:p>
                  </a:txBody>
                  <a:tcPr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D2F46"/>
                          </a:solidFill>
                          <a:latin typeface="Aptos"/>
                        </a:defRPr>
                      </a:pPr>
                      <a:r>
                        <a:t>Indexes, bound parameters and CHECK constraints</a:t>
                      </a:r>
                    </a:p>
                  </a:txBody>
                  <a:tcPr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17189"/>
                </a:solidFill>
                <a:latin typeface="Aptos"/>
              </a:defRPr>
            </a:pPr>
            <a:r>
              <a:t>KALMAN SYSTEMS  /  DBMS PROJECT-BASED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D2F46"/>
                </a:solidFill>
                <a:latin typeface="Aptos"/>
              </a:defRPr>
            </a:pPr>
            <a:r>
              <a:t>Live demonstration, validation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17189"/>
                </a:solidFill>
                <a:latin typeface="Aptos"/>
              </a:defRPr>
            </a:pPr>
            <a:r>
              <a:t>A working academic prototype with a clear path to further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17189"/>
                </a:solidFill>
                <a:latin typeface="Aptos"/>
              </a:defRPr>
            </a:pPr>
            <a:r>
              <a:t>Sarvajeet Bajikar &amp; Adhiraj Kalkundrikar  •  DBMS Group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1718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D2F46"/>
                </a:solidFill>
                <a:latin typeface="Aptos"/>
              </a:defRPr>
            </a:pPr>
            <a:r>
              <a:t>LIVE DEMO</a:t>
            </a:r>
          </a:p>
          <a:p>
            <a:pPr>
              <a:spcAft>
                <a:spcPts val="1200"/>
              </a:spcAft>
              <a:defRPr sz="2100" b="0">
                <a:solidFill>
                  <a:srgbClr val="1D2F46"/>
                </a:solidFill>
                <a:latin typeface="Aptos"/>
              </a:defRPr>
            </a:pPr>
            <a:r>
              <a:t>1. Sign in and register a complaint</a:t>
            </a:r>
          </a:p>
          <a:p>
            <a:pPr>
              <a:spcAft>
                <a:spcPts val="1200"/>
              </a:spcAft>
              <a:defRPr sz="2100" b="0">
                <a:solidFill>
                  <a:srgbClr val="1D2F46"/>
                </a:solidFill>
                <a:latin typeface="Aptos"/>
              </a:defRPr>
            </a:pPr>
            <a:r>
              <a:t>2. Upload evidence and transfer custody</a:t>
            </a:r>
          </a:p>
          <a:p>
            <a:pPr>
              <a:spcAft>
                <a:spcPts val="1200"/>
              </a:spcAft>
              <a:defRPr sz="2100" b="0">
                <a:solidFill>
                  <a:srgbClr val="1D2F46"/>
                </a:solidFill>
                <a:latin typeface="Aptos"/>
              </a:defRPr>
            </a:pPr>
            <a:r>
              <a:t>3. Update the investigation status</a:t>
            </a:r>
          </a:p>
          <a:p>
            <a:pPr>
              <a:spcAft>
                <a:spcPts val="1200"/>
              </a:spcAft>
              <a:defRPr sz="2100" b="0">
                <a:solidFill>
                  <a:srgbClr val="1D2F46"/>
                </a:solidFill>
                <a:latin typeface="Aptos"/>
              </a:defRPr>
            </a:pPr>
            <a:r>
              <a:t>4. Download evidence and export report</a:t>
            </a:r>
          </a:p>
          <a:p>
            <a:pPr>
              <a:spcAft>
                <a:spcPts val="1200"/>
              </a:spcAft>
              <a:defRPr sz="2100" b="0">
                <a:solidFill>
                  <a:srgbClr val="1D2F46"/>
                </a:solidFill>
                <a:latin typeface="Aptos"/>
              </a:defRPr>
            </a:pPr>
            <a:r>
              <a:t>5. Restart to show data persistence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42316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D2F46"/>
                </a:solidFill>
                <a:latin typeface="Aptos"/>
              </a:defRPr>
            </a:pPr>
            <a:r>
              <a:t>VALIDATION &amp; FUTURE SCOPE</a:t>
            </a:r>
          </a:p>
          <a:p>
            <a:pPr>
              <a:spcAft>
                <a:spcPts val="1200"/>
              </a:spcAft>
              <a:defRPr sz="1900" b="0">
                <a:solidFill>
                  <a:srgbClr val="1D2F46"/>
                </a:solidFill>
                <a:latin typeface="Aptos"/>
              </a:defRPr>
            </a:pPr>
            <a:r>
              <a:t>Tested: complete record workflow, access rules, CSRF, escaping and file integrity.</a:t>
            </a:r>
          </a:p>
          <a:p>
            <a:pPr>
              <a:spcAft>
                <a:spcPts val="1200"/>
              </a:spcAft>
              <a:defRPr sz="1900" b="0">
                <a:solidFill>
                  <a:srgbClr val="1D2F46"/>
                </a:solidFill>
                <a:latin typeface="Aptos"/>
              </a:defRPr>
            </a:pPr>
            <a:r>
              <a:t>Next: account management, signed handovers, encrypted backups and independent audit.</a:t>
            </a:r>
          </a:p>
          <a:p>
            <a:pPr>
              <a:spcAft>
                <a:spcPts val="1200"/>
              </a:spcAft>
              <a:defRPr sz="1900" b="0">
                <a:solidFill>
                  <a:srgbClr val="1D2F46"/>
                </a:solidFill>
                <a:latin typeface="Aptos"/>
              </a:defRPr>
            </a:pPr>
            <a:r>
              <a:t>Local PBL model; not certified for operational police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